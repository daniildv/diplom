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36" r:id="rId1"/>
  </p:sldMasterIdLst>
  <p:sldIdLst>
    <p:sldId id="256" r:id="rId2"/>
    <p:sldId id="257" r:id="rId3"/>
    <p:sldId id="258" r:id="rId4"/>
    <p:sldId id="290" r:id="rId5"/>
    <p:sldId id="289" r:id="rId6"/>
    <p:sldId id="291" r:id="rId7"/>
    <p:sldId id="292" r:id="rId8"/>
    <p:sldId id="293" r:id="rId9"/>
    <p:sldId id="294" r:id="rId10"/>
    <p:sldId id="295" r:id="rId11"/>
    <p:sldId id="303" r:id="rId12"/>
    <p:sldId id="304" r:id="rId13"/>
    <p:sldId id="305" r:id="rId14"/>
    <p:sldId id="300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Пользователь" initials="П" lastIdx="1" clrIdx="0">
    <p:extLst>
      <p:ext uri="{19B8F6BF-5375-455C-9EA6-DF929625EA0E}">
        <p15:presenceInfo xmlns:p15="http://schemas.microsoft.com/office/powerpoint/2012/main" userId="Пользователь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21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68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07A8C-F355-4591-BC3E-9C3D6DA21416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BB274-8844-41B4-9BD5-BB2FFDFD06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7009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8300" y="365125"/>
            <a:ext cx="9715499" cy="1325563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07A8C-F355-4591-BC3E-9C3D6DA21416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BB274-8844-41B4-9BD5-BB2FFDFD063E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400" y="486821"/>
            <a:ext cx="1247599" cy="1135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40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07A8C-F355-4591-BC3E-9C3D6DA21416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BB274-8844-41B4-9BD5-BB2FFDFD06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3066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07A8C-F355-4591-BC3E-9C3D6DA21416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BB274-8844-41B4-9BD5-BB2FFDFD06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7142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07A8C-F355-4591-BC3E-9C3D6DA21416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BB274-8844-41B4-9BD5-BB2FFDFD06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8995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07A8C-F355-4591-BC3E-9C3D6DA21416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BB274-8844-41B4-9BD5-BB2FFDFD06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5966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07A8C-F355-4591-BC3E-9C3D6DA21416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BB274-8844-41B4-9BD5-BB2FFDFD06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9209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07A8C-F355-4591-BC3E-9C3D6DA21416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BB274-8844-41B4-9BD5-BB2FFDFD06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5068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07A8C-F355-4591-BC3E-9C3D6DA21416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BB274-8844-41B4-9BD5-BB2FFDFD06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33488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07A8C-F355-4591-BC3E-9C3D6DA21416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BB274-8844-41B4-9BD5-BB2FFDFD06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0103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07A8C-F355-4591-BC3E-9C3D6DA21416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7BB274-8844-41B4-9BD5-BB2FFDFD06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8376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A07A8C-F355-4591-BC3E-9C3D6DA21416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7BB274-8844-41B4-9BD5-BB2FFDFD06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2660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7" r:id="rId1"/>
    <p:sldLayoutId id="2147484038" r:id="rId2"/>
    <p:sldLayoutId id="2147484039" r:id="rId3"/>
    <p:sldLayoutId id="2147484040" r:id="rId4"/>
    <p:sldLayoutId id="2147484041" r:id="rId5"/>
    <p:sldLayoutId id="2147484042" r:id="rId6"/>
    <p:sldLayoutId id="2147484043" r:id="rId7"/>
    <p:sldLayoutId id="2147484044" r:id="rId8"/>
    <p:sldLayoutId id="2147484045" r:id="rId9"/>
    <p:sldLayoutId id="2147484046" r:id="rId10"/>
    <p:sldLayoutId id="214748404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400" y="486821"/>
            <a:ext cx="1247599" cy="1135256"/>
          </a:xfrm>
          <a:prstGeom prst="rect">
            <a:avLst/>
          </a:prstGeom>
        </p:spPr>
      </p:pic>
      <p:pic>
        <p:nvPicPr>
          <p:cNvPr id="1028" name="Picture 4" descr="Профессионалитет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9590" y="494845"/>
            <a:ext cx="1402849" cy="11958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97429" y="365125"/>
            <a:ext cx="9541328" cy="1325563"/>
          </a:xfrm>
        </p:spPr>
        <p:txBody>
          <a:bodyPr>
            <a:normAutofit/>
          </a:bodyPr>
          <a:lstStyle/>
          <a:p>
            <a:pPr algn="ctr">
              <a:lnSpc>
                <a:spcPct val="107000"/>
              </a:lnSpc>
            </a:pPr>
            <a:r>
              <a:rPr lang="ru-RU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МИНИСТЕРСТВО НАУКИ И ВЫСШЕГО ОБРАЗОВАНИЯ РОССИЙСКОЙ ФЕДЕРАЦИИ </a:t>
            </a:r>
            <a:br>
              <a:rPr lang="ru-RU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ФЕДЕРАЛЬНОЕ ГОСУДАРСТВЕННОЕ БЮДЖЕТНОЕ ОБРАЗОВАТЕЛЬНОЕ УЧРЕЖДЕНИЕ ВЫСШЕГО ОБРАЗОВАНИЯ «ЮГОРСКИЙ ГОСУДАРСТВЕННЫЙ УНИВЕРСИТЕТ»</a:t>
            </a:r>
            <a:br>
              <a:rPr lang="ru-RU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МНОГОПРОФИЛЬНЫЙ КОЛЛЕДЖ</a:t>
            </a:r>
          </a:p>
        </p:txBody>
      </p:sp>
      <p:sp>
        <p:nvSpPr>
          <p:cNvPr id="4" name="Подзаголовок 2"/>
          <p:cNvSpPr txBox="1">
            <a:spLocks/>
          </p:cNvSpPr>
          <p:nvPr/>
        </p:nvSpPr>
        <p:spPr>
          <a:xfrm>
            <a:off x="8038987" y="4292283"/>
            <a:ext cx="3985479" cy="22064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Выполнил: </a:t>
            </a:r>
          </a:p>
          <a:p>
            <a:pPr algn="l"/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3 курса группы 5ИС33п</a:t>
            </a:r>
          </a:p>
          <a:p>
            <a:pPr algn="l"/>
            <a:r>
              <a:rPr lang="ru-RU" sz="1800" dirty="0">
                <a:latin typeface="Times New Roman" panose="02020603050405020304" pitchFamily="18" charset="0"/>
                <a:ea typeface="Century Gothic" charset="0"/>
                <a:cs typeface="Times New Roman" panose="02020603050405020304" pitchFamily="18" charset="0"/>
              </a:rPr>
              <a:t>Дворников Даниил Витальевич</a:t>
            </a:r>
          </a:p>
          <a:p>
            <a:pPr algn="l"/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Руководитель: </a:t>
            </a:r>
          </a:p>
          <a:p>
            <a:pPr algn="l"/>
            <a:r>
              <a:rPr lang="ru-RU" alt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Уфимцева Дарья Александровна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3271" y="2341627"/>
            <a:ext cx="10989129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Выпускная квалификационная работа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тему: «Разработка информационной системы управляющей компании»</a:t>
            </a:r>
          </a:p>
        </p:txBody>
      </p:sp>
    </p:spTree>
    <p:extLst>
      <p:ext uri="{BB962C8B-B14F-4D97-AF65-F5344CB8AC3E}">
        <p14:creationId xmlns:p14="http://schemas.microsoft.com/office/powerpoint/2010/main" val="3922104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Объект, предмет и цель 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 algn="just">
              <a:buNone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Объектом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исследования является - </a:t>
            </a:r>
            <a:r>
              <a:rPr lang="ru-RU" sz="2400" dirty="0"/>
              <a:t>деятельность управляющей компании в сфере жилищно-коммунального хозяйства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525" indent="0" algn="just">
              <a:buNone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 исследования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процессы автоматизации учёта лицевых счетов, обработки заявок жильцов, регистрации показаний приборов учёта и расчёта коммунальных платежей.</a:t>
            </a:r>
          </a:p>
          <a:p>
            <a:pPr marL="9525" indent="0" algn="just">
              <a:buNone/>
            </a:pPr>
            <a:endParaRPr lang="ru-RU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разработка информационной системы </a:t>
            </a:r>
            <a:r>
              <a:rPr lang="ru-RU" sz="2400" dirty="0"/>
              <a:t>разработка автоматизированной информационной системы для управляющей компании на базе технологии Windows </a:t>
            </a:r>
            <a:r>
              <a:rPr lang="ru-RU" sz="2400" dirty="0" err="1"/>
              <a:t>Presentation</a:t>
            </a:r>
            <a:r>
              <a:rPr lang="ru-RU" sz="2400" dirty="0"/>
              <a:t> Foundation (WPF) и СУБД Microsoft SQL Server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16113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446088" lvl="0" indent="-446088" algn="just">
              <a:lnSpc>
                <a:spcPct val="110000"/>
              </a:lnSpc>
              <a:buFont typeface="Times New Roman" panose="02020603050405020304" pitchFamily="18" charset="0"/>
              <a:buChar char="−"/>
            </a:pPr>
            <a:r>
              <a:rPr lang="ru-RU" sz="2400" dirty="0"/>
              <a:t>Задача 1. Провести анализ предметной области и существующих процессов работы.</a:t>
            </a:r>
          </a:p>
          <a:p>
            <a:pPr marL="446088" lvl="0" indent="-446088" algn="just">
              <a:lnSpc>
                <a:spcPct val="110000"/>
              </a:lnSpc>
              <a:buFont typeface="Times New Roman" panose="02020603050405020304" pitchFamily="18" charset="0"/>
              <a:buChar char="−"/>
            </a:pPr>
            <a:r>
              <a:rPr lang="ru-RU" sz="2400" dirty="0"/>
              <a:t>Задача 2. Выявить недостатки текущих методов учёта и обработки информации.</a:t>
            </a:r>
          </a:p>
          <a:p>
            <a:pPr marL="446088" lvl="0" indent="-446088" algn="just">
              <a:lnSpc>
                <a:spcPct val="110000"/>
              </a:lnSpc>
              <a:buFont typeface="Times New Roman" panose="02020603050405020304" pitchFamily="18" charset="0"/>
              <a:buChar char="−"/>
            </a:pPr>
            <a:r>
              <a:rPr lang="ru-RU" sz="2400" dirty="0"/>
              <a:t>Задача 3. Сформулировать функциональные и нефункциональные требования к системе.</a:t>
            </a:r>
          </a:p>
          <a:p>
            <a:pPr marL="446088" lvl="0" indent="-446088" algn="just">
              <a:lnSpc>
                <a:spcPct val="110000"/>
              </a:lnSpc>
              <a:buFont typeface="Times New Roman" panose="02020603050405020304" pitchFamily="18" charset="0"/>
              <a:buChar char="−"/>
            </a:pPr>
            <a:r>
              <a:rPr lang="ru-RU" sz="2400" dirty="0"/>
              <a:t>Задача 4. Разработать модель информационной системы и структуру базы данных.</a:t>
            </a:r>
          </a:p>
          <a:p>
            <a:pPr marL="446088" lvl="0" indent="-446088" algn="just">
              <a:lnSpc>
                <a:spcPct val="110000"/>
              </a:lnSpc>
              <a:buFont typeface="Times New Roman" panose="02020603050405020304" pitchFamily="18" charset="0"/>
              <a:buChar char="−"/>
            </a:pPr>
            <a:r>
              <a:rPr lang="ru-RU" sz="2400" dirty="0"/>
              <a:t>Задача 5. Спроектировать пользовательский интерфейс настольного приложения.</a:t>
            </a:r>
          </a:p>
          <a:p>
            <a:pPr marL="446088" lvl="0" indent="-446088" algn="just">
              <a:lnSpc>
                <a:spcPct val="110000"/>
              </a:lnSpc>
              <a:buFont typeface="Times New Roman" panose="02020603050405020304" pitchFamily="18" charset="0"/>
              <a:buChar char="−"/>
            </a:pPr>
            <a:r>
              <a:rPr lang="ru-RU" sz="2400" dirty="0"/>
              <a:t>Задача 6. Реализовать программное обеспечение и механизмы взаимодействия с БД.</a:t>
            </a:r>
          </a:p>
          <a:p>
            <a:pPr marL="446088" lvl="0" indent="-446088" algn="just">
              <a:lnSpc>
                <a:spcPct val="110000"/>
              </a:lnSpc>
              <a:buFont typeface="Times New Roman" panose="02020603050405020304" pitchFamily="18" charset="0"/>
              <a:buChar char="−"/>
            </a:pPr>
            <a:r>
              <a:rPr lang="ru-RU" sz="2400" dirty="0"/>
              <a:t>Задача 7. Обеспечить защиту и сохранность обрабатываемой информации.</a:t>
            </a:r>
          </a:p>
          <a:p>
            <a:pPr marL="446088" lvl="0" indent="-446088" algn="just">
              <a:lnSpc>
                <a:spcPct val="110000"/>
              </a:lnSpc>
              <a:buFont typeface="Times New Roman" panose="02020603050405020304" pitchFamily="18" charset="0"/>
              <a:buChar char="−"/>
            </a:pPr>
            <a:r>
              <a:rPr lang="ru-RU" sz="2400" dirty="0"/>
              <a:t>Задача 8. Провести тестирование разработанного приложения.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8220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Практическая значимость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10000"/>
              </a:lnSpc>
              <a:buNone/>
            </a:pP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готового к внедрению программного продукта, позволяющего автоматизировать основные процессы УК. Система позволит сократить время обработки обращений, уменьшить количество ошибок при расчётах, повысить прозрачность начислений и обеспечить централизованное хранение данных.</a:t>
            </a:r>
          </a:p>
        </p:txBody>
      </p:sp>
    </p:spTree>
    <p:extLst>
      <p:ext uri="{BB962C8B-B14F-4D97-AF65-F5344CB8AC3E}">
        <p14:creationId xmlns:p14="http://schemas.microsoft.com/office/powerpoint/2010/main" val="1837429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Организационная структура предприятия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F67EB1F-3A41-AA47-5018-4098257124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300" y="1690688"/>
            <a:ext cx="9401371" cy="240163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FEB6692-33A8-162A-38DC-B40F16AE4CD8}"/>
              </a:ext>
            </a:extLst>
          </p:cNvPr>
          <p:cNvSpPr txBox="1"/>
          <p:nvPr/>
        </p:nvSpPr>
        <p:spPr>
          <a:xfrm>
            <a:off x="1638300" y="4171277"/>
            <a:ext cx="654558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2000" dirty="0"/>
              <a:t>Организационная структура управляющей компании включает: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/>
              <a:t>Генеральный директор (общее руководство)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/>
              <a:t>Бухгалтерия (финансовый учёт, начисления)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/>
              <a:t>Диспетчерская служба (приём и обработка заявок)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sz="2000" dirty="0"/>
              <a:t>Технический отдел (обслуживание инженерных систем)</a:t>
            </a:r>
          </a:p>
        </p:txBody>
      </p:sp>
    </p:spTree>
    <p:extLst>
      <p:ext uri="{BB962C8B-B14F-4D97-AF65-F5344CB8AC3E}">
        <p14:creationId xmlns:p14="http://schemas.microsoft.com/office/powerpoint/2010/main" val="2465574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Диаграмма использования «Взаимодействия между участниками системы»</a:t>
            </a:r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638300" y="5126609"/>
            <a:ext cx="8090917" cy="1731391"/>
          </a:xfrm>
        </p:spPr>
        <p:txBody>
          <a:bodyPr>
            <a:normAutofit/>
          </a:bodyPr>
          <a:lstStyle/>
          <a:p>
            <a:r>
              <a:rPr lang="ru-RU" sz="1400" b="1" dirty="0"/>
              <a:t>Основные акторы системы:</a:t>
            </a:r>
            <a:endParaRPr lang="ru-RU" sz="1400" dirty="0"/>
          </a:p>
          <a:p>
            <a:r>
              <a:rPr lang="ru-RU" sz="1400" b="1" dirty="0"/>
              <a:t>Житель:</a:t>
            </a:r>
            <a:r>
              <a:rPr lang="ru-RU" sz="1400" dirty="0"/>
              <a:t> передача показаний, просмотр начислений, создание заявок.</a:t>
            </a:r>
          </a:p>
          <a:p>
            <a:r>
              <a:rPr lang="ru-RU" sz="1400" b="1" dirty="0"/>
              <a:t>Диспетчер:</a:t>
            </a:r>
            <a:r>
              <a:rPr lang="ru-RU" sz="1400" dirty="0"/>
              <a:t> регистрация заявок, назначение исполнителей, контроль сроков.</a:t>
            </a:r>
          </a:p>
          <a:p>
            <a:r>
              <a:rPr lang="ru-RU" sz="1400" b="1" dirty="0"/>
              <a:t>Бухгалтер:</a:t>
            </a:r>
            <a:r>
              <a:rPr lang="ru-RU" sz="1400" dirty="0"/>
              <a:t> формирование начислений, учёт платежей, отчётность.</a:t>
            </a:r>
          </a:p>
          <a:p>
            <a:r>
              <a:rPr lang="ru-RU" sz="1400" b="1" dirty="0"/>
              <a:t>Администратор:</a:t>
            </a:r>
            <a:r>
              <a:rPr lang="ru-RU" sz="1400" dirty="0"/>
              <a:t> управление учётными записями, настройка прав доступа, резервное копирование</a:t>
            </a:r>
            <a:r>
              <a:rPr lang="ru-RU" sz="1600" dirty="0"/>
              <a:t>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6C0B5D7-BC62-39C8-792B-FA6388CDF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300" y="1818704"/>
            <a:ext cx="4910900" cy="3307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785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Диаграмма деятельности </a:t>
            </a:r>
            <a:r>
              <a:rPr lang="ru-RU" sz="3600" dirty="0"/>
              <a:t>«Процесс работы автоматизированной системы»</a:t>
            </a:r>
            <a:endParaRPr lang="ru-RU" dirty="0"/>
          </a:p>
        </p:txBody>
      </p:sp>
      <p:sp>
        <p:nvSpPr>
          <p:cNvPr id="5" name="Объект 4"/>
          <p:cNvSpPr>
            <a:spLocks noGrp="1"/>
          </p:cNvSpPr>
          <p:nvPr>
            <p:ph idx="1"/>
          </p:nvPr>
        </p:nvSpPr>
        <p:spPr>
          <a:xfrm>
            <a:off x="1635252" y="4719638"/>
            <a:ext cx="10515600" cy="1325563"/>
          </a:xfrm>
        </p:spPr>
        <p:txBody>
          <a:bodyPr>
            <a:normAutofit fontScale="77500" lnSpcReduction="20000"/>
          </a:bodyPr>
          <a:lstStyle/>
          <a:p>
            <a:r>
              <a:rPr lang="ru-RU" sz="1100" b="1" dirty="0"/>
              <a:t>Описание процесса:</a:t>
            </a:r>
            <a:endParaRPr lang="ru-RU" sz="1100" dirty="0"/>
          </a:p>
          <a:p>
            <a:r>
              <a:rPr lang="ru-RU" sz="1100" dirty="0"/>
              <a:t>Пользователь вводит исходные данные в интерфейс WPF-приложения.</a:t>
            </a:r>
          </a:p>
          <a:p>
            <a:r>
              <a:rPr lang="ru-RU" sz="1100" dirty="0"/>
              <a:t>Система выполняет автоматическую проверку корректности и валидацию информации.</a:t>
            </a:r>
          </a:p>
          <a:p>
            <a:r>
              <a:rPr lang="ru-RU" sz="1100" dirty="0"/>
              <a:t>При успехе данные сохраняются в БД Microsoft SQL Server, выполняется бизнес-логика (расчёт, маршрутизация).</a:t>
            </a:r>
          </a:p>
          <a:p>
            <a:r>
              <a:rPr lang="ru-RU" sz="1100" dirty="0"/>
              <a:t>Система формирует отчёты и выводит результаты пользователю. При ошибке – возврат к этапу ввода с уведомлением.</a:t>
            </a:r>
            <a:br>
              <a:rPr lang="ru-RU" dirty="0"/>
            </a:b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3DF7186-FA8D-1B55-E0B8-F8A8262C34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300" y="1690688"/>
            <a:ext cx="7419975" cy="3028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2325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Логическая модель базы данных</a:t>
            </a:r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1638300" y="1590104"/>
            <a:ext cx="5055108" cy="1758823"/>
          </a:xfrm>
        </p:spPr>
        <p:txBody>
          <a:bodyPr>
            <a:normAutofit lnSpcReduction="10000"/>
          </a:bodyPr>
          <a:lstStyle/>
          <a:p>
            <a:r>
              <a:rPr lang="ru-RU" sz="900" b="1" dirty="0"/>
              <a:t>Основные сущности БД:</a:t>
            </a:r>
            <a:endParaRPr lang="ru-RU" sz="900" dirty="0"/>
          </a:p>
          <a:p>
            <a:r>
              <a:rPr lang="ru-RU" sz="900" dirty="0"/>
              <a:t>House (Дом) и </a:t>
            </a:r>
            <a:r>
              <a:rPr lang="ru-RU" sz="900" dirty="0" err="1"/>
              <a:t>Apartment</a:t>
            </a:r>
            <a:r>
              <a:rPr lang="ru-RU" sz="900" dirty="0"/>
              <a:t> (Квартира)</a:t>
            </a:r>
          </a:p>
          <a:p>
            <a:r>
              <a:rPr lang="ru-RU" sz="900" dirty="0" err="1"/>
              <a:t>PersonalAccount</a:t>
            </a:r>
            <a:r>
              <a:rPr lang="ru-RU" sz="900" dirty="0"/>
              <a:t> (Лицевой счёт) – центральная сущность</a:t>
            </a:r>
          </a:p>
          <a:p>
            <a:r>
              <a:rPr lang="ru-RU" sz="900" dirty="0"/>
              <a:t>User (Пользователь)</a:t>
            </a:r>
          </a:p>
          <a:p>
            <a:r>
              <a:rPr lang="ru-RU" sz="900" dirty="0" err="1"/>
              <a:t>MeterDevice</a:t>
            </a:r>
            <a:r>
              <a:rPr lang="ru-RU" sz="900" dirty="0"/>
              <a:t> (Прибор учёта) и </a:t>
            </a:r>
            <a:r>
              <a:rPr lang="ru-RU" sz="900" dirty="0" err="1"/>
              <a:t>MeterReading</a:t>
            </a:r>
            <a:r>
              <a:rPr lang="ru-RU" sz="900" dirty="0"/>
              <a:t> (Показание)</a:t>
            </a:r>
          </a:p>
          <a:p>
            <a:r>
              <a:rPr lang="ru-RU" sz="900" dirty="0" err="1"/>
              <a:t>Request</a:t>
            </a:r>
            <a:r>
              <a:rPr lang="ru-RU" sz="900" dirty="0"/>
              <a:t> (Заявка) и </a:t>
            </a:r>
            <a:r>
              <a:rPr lang="ru-RU" sz="900" dirty="0" err="1"/>
              <a:t>Accrual</a:t>
            </a:r>
            <a:r>
              <a:rPr lang="ru-RU" sz="900" dirty="0"/>
              <a:t> (Начисление)</a:t>
            </a:r>
          </a:p>
          <a:p>
            <a:r>
              <a:rPr lang="ru-RU" sz="900" dirty="0"/>
              <a:t>Связи типа «один-ко-многим» обеспечивают нормализацию данных и исключают дублирование.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A85B547-65C7-6633-7CA7-3E9C97AF41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6049" y="1690688"/>
            <a:ext cx="4486275" cy="451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4092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Главная экранная форма системы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A6E930F-863D-24CA-4CDE-B1DDB2E39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300" y="1825625"/>
            <a:ext cx="6705600" cy="420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1449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600" dirty="0"/>
              <a:t>Экранная форма «Авторизация и безопасность»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43BE0EE-9239-86A7-BB97-84920837F5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300" y="1690688"/>
            <a:ext cx="7167372" cy="4040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7542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Экранная форма «Обработка заявок»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BDDE9C7-CA97-E5CF-15BA-397410EB0A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300" y="1690688"/>
            <a:ext cx="6673596" cy="4459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3690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Экранная форма «Приборы учёта»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DE34342-7069-366C-1BF3-96E7CFAA8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300" y="1690688"/>
            <a:ext cx="7313676" cy="4108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9052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Экранная форма «Отчётность»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E34EFFE-4225-D26A-E87C-1FB15BC23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300" y="1690688"/>
            <a:ext cx="7103364" cy="4775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1589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 по работе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fontScale="85000" lnSpcReduction="20000"/>
          </a:bodyPr>
          <a:lstStyle/>
          <a:p>
            <a:r>
              <a:rPr lang="ru-RU" b="1" dirty="0"/>
              <a:t>Основные выводы:</a:t>
            </a:r>
            <a:endParaRPr lang="ru-RU" dirty="0"/>
          </a:p>
          <a:p>
            <a:pPr>
              <a:buFont typeface="Times New Roman" panose="02020603050405020304" pitchFamily="18" charset="0"/>
              <a:buChar char="–"/>
            </a:pPr>
            <a:r>
              <a:rPr lang="ru-RU" dirty="0"/>
              <a:t>Проведён анализ предметной области, выявлены недостатки ручного учёта в Excel, обоснована необходимость автоматизации.</a:t>
            </a:r>
          </a:p>
          <a:p>
            <a:pPr>
              <a:buFont typeface="Times New Roman" panose="02020603050405020304" pitchFamily="18" charset="0"/>
              <a:buChar char="–"/>
            </a:pPr>
            <a:r>
              <a:rPr lang="ru-RU" dirty="0"/>
              <a:t>Разработана модель ИС с использованием UML-диаграмм и спроектирована нормализованная структура базы данных в Microsoft SQL Server.</a:t>
            </a:r>
          </a:p>
          <a:p>
            <a:pPr>
              <a:buFont typeface="Times New Roman" panose="02020603050405020304" pitchFamily="18" charset="0"/>
              <a:buChar char="–"/>
            </a:pPr>
            <a:r>
              <a:rPr lang="ru-RU" dirty="0"/>
              <a:t>Реализовано настольное приложение на C# и WPF с модулями учёта лицевых счетов, заявок, показаний и начислений.</a:t>
            </a:r>
          </a:p>
          <a:p>
            <a:pPr>
              <a:buFont typeface="Times New Roman" panose="02020603050405020304" pitchFamily="18" charset="0"/>
              <a:buChar char="–"/>
            </a:pPr>
            <a:r>
              <a:rPr lang="ru-RU" dirty="0"/>
              <a:t>Обеспечены механизмы защиты данных: авторизация, ролевая модель доступа и резервное копирование.</a:t>
            </a:r>
          </a:p>
          <a:p>
            <a:pPr>
              <a:buFont typeface="Times New Roman" panose="02020603050405020304" pitchFamily="18" charset="0"/>
              <a:buChar char="–"/>
            </a:pPr>
            <a:r>
              <a:rPr lang="ru-RU" dirty="0"/>
              <a:t>Внедрение системы позволяет сократить время обработки обращений, снизить количество ошибок ручного ввода и повысить прозрачность расчётов для жильцов.</a:t>
            </a:r>
          </a:p>
          <a:p>
            <a:pPr marL="0" indent="0">
              <a:buNone/>
            </a:pPr>
            <a:r>
              <a:rPr lang="ru-RU" dirty="0"/>
              <a:t>Цель работы достигнута, задачи выполнены в полном объёме.</a:t>
            </a:r>
          </a:p>
        </p:txBody>
      </p:sp>
    </p:spTree>
    <p:extLst>
      <p:ext uri="{BB962C8B-B14F-4D97-AF65-F5344CB8AC3E}">
        <p14:creationId xmlns:p14="http://schemas.microsoft.com/office/powerpoint/2010/main" val="350905005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5610</TotalTime>
  <Words>592</Words>
  <Application>Microsoft Office PowerPoint</Application>
  <PresentationFormat>Широкоэкранный</PresentationFormat>
  <Paragraphs>66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Тема Office</vt:lpstr>
      <vt:lpstr>МИНИСТЕРСТВО НАУКИ И ВЫСШЕГО ОБРАЗОВАНИЯ РОССИЙСКОЙ ФЕДЕРАЦИИ  ФЕДЕРАЛЬНОЕ ГОСУДАРСТВЕННОЕ БЮДЖЕТНОЕ ОБРАЗОВАТЕЛЬНОЕ УЧРЕЖДЕНИЕ ВЫСШЕГО ОБРАЗОВАНИЯ «ЮГОРСКИЙ ГОСУДАРСТВЕННЫЙ УНИВЕРСИТЕТ» МНОГОПРОФИЛЬНЫЙ КОЛЛЕДЖ</vt:lpstr>
      <vt:lpstr>Объект, предмет и цель </vt:lpstr>
      <vt:lpstr>Задачи</vt:lpstr>
      <vt:lpstr>Практическая значимость</vt:lpstr>
      <vt:lpstr>Организационная структура предприятия</vt:lpstr>
      <vt:lpstr>Диаграмма использования «Взаимодействия между участниками системы»</vt:lpstr>
      <vt:lpstr>Диаграмма деятельности «Процесс работы автоматизированной системы»</vt:lpstr>
      <vt:lpstr>Логическая модель базы данных</vt:lpstr>
      <vt:lpstr>Главная экранная форма системы</vt:lpstr>
      <vt:lpstr>Экранная форма «Авторизация и безопасность»</vt:lpstr>
      <vt:lpstr>Экранная форма «Обработка заявок»</vt:lpstr>
      <vt:lpstr>Экранная форма «Приборы учёта»</vt:lpstr>
      <vt:lpstr>Экранная форма «Отчётность»</vt:lpstr>
      <vt:lpstr>Выводы по работе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Департамент образования и молодежной политики Ханты-Мансийского автономного округа - Югры Автономное учреждение профессионального образования Ханты-Мансийского автономного округа - Югры ХАНТЫ-МАНСИЙСКИЙ ТЕХНОЛОГО-ПЕДАГОГИЧЕСКИЙ КОЛЛЕДЖ</dc:title>
  <dc:creator>Филёнок 🐁</dc:creator>
  <cp:lastModifiedBy>Dvornikov Daniil</cp:lastModifiedBy>
  <cp:revision>109</cp:revision>
  <dcterms:created xsi:type="dcterms:W3CDTF">2019-06-15T05:24:11Z</dcterms:created>
  <dcterms:modified xsi:type="dcterms:W3CDTF">2026-06-13T19:35:17Z</dcterms:modified>
</cp:coreProperties>
</file>